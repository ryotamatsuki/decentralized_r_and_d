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Decentralized Public R&amp;D, Demand Shifters, and the Over- and Underinvestment Threshold</a:t>
            </a:r>
          </a:p>
          <a:p>
            <a:pPr>
              <a:defRPr sz="2800"/>
            </a:pPr>
            <a:r>
              <a:t>(分権的公共R&amp;D、需要シフトと過剰・過少投資の閾値)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発表者: 松木 遼太 (Ryota Matsuki)\n応用経済学会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 (Background)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地方自治体による特産品のブランド化・品質向上への投資</a:t>
            </a:r>
          </a:p>
          <a:p>
            <a:pPr>
              <a:defRPr sz="2000"/>
            </a:pPr>
            <a:r>
              <a:t>コーヒー豆、農産物、観光地などのプロモーションや研究開発</a:t>
            </a:r>
          </a:p>
          <a:p>
            <a:pPr>
              <a:defRPr sz="2000"/>
            </a:pPr>
            <a:r>
              <a:t>これらの投資は消費者の「知覚品質（Perceived Quality）」を向上・シフトさせる</a:t>
            </a:r>
          </a:p>
          <a:p>
            <a:pPr>
              <a:defRPr sz="2000"/>
            </a:pPr>
            <a:r>
              <a:t>地域間の激しい競争：各自治体が自地域の製品を売るために競い合っている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問題意識 (Problem Statement)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自治体の公共支出は「真の品質向上」をもたらしているのか？</a:t>
            </a:r>
          </a:p>
          <a:p>
            <a:pPr>
              <a:defRPr sz="2000"/>
            </a:pPr>
            <a:r>
              <a:t>それとも、単なる他地域からの「需要の奪い合い（Business Stealing / Persuasion）」に過ぎないのか？</a:t>
            </a:r>
          </a:p>
          <a:p>
            <a:pPr>
              <a:defRPr sz="2000"/>
            </a:pPr>
            <a:r>
              <a:t>説得・プロモーション競争に偏る場合、社会的無駄（Promotion-policy trap）になる恐れ</a:t>
            </a:r>
          </a:p>
          <a:p>
            <a:pPr>
              <a:defRPr sz="2000"/>
            </a:pPr>
            <a:r>
              <a:t>一方で、知識スピルオーバーが存在する真のR&amp;Dであれば、過少投資になる可能性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アプローチと研究の目的 (Approach &amp; Objective)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知覚品質（Perceived Quality）を2つの要素に分解:</a:t>
            </a:r>
          </a:p>
          <a:p>
            <a:pPr>
              <a:defRPr sz="2000"/>
            </a:pPr>
            <a:r>
              <a:t>1. 実質的品質（Real Quality）: 厚生に寄与する割合 α</a:t>
            </a:r>
          </a:p>
          <a:p>
            <a:pPr>
              <a:defRPr sz="2000"/>
            </a:pPr>
            <a:r>
              <a:t>2. 説得的要素（Persuasive Component）: 厚生には寄与せず需要のみをシフトさせる割合 1-α</a:t>
            </a:r>
          </a:p>
          <a:p>
            <a:pPr>
              <a:defRPr sz="2000"/>
            </a:pPr>
            <a:r>
              <a:t>ホテリング・モデルを用いて自治体間のR&amp;D競争を分析</a:t>
            </a:r>
          </a:p>
          <a:p>
            <a:pPr>
              <a:defRPr sz="2000"/>
            </a:pPr>
            <a:r>
              <a:t>分権的R&amp;Dが社会的に「過剰」になるか「過少」になるかの明確な閾値（Threshold）を導出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主要な貢献 (Main Contributions)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自治体間の分権的R&amp;D投資における過剰・過少投資の解析的な閾値を導出</a:t>
            </a:r>
          </a:p>
          <a:p>
            <a:pPr>
              <a:defRPr sz="2000"/>
            </a:pPr>
            <a:r>
              <a:t>2. 中央政府（または制度的調整メカニズム）による最適なマッチング補助率 (s*) の導出</a:t>
            </a:r>
          </a:p>
          <a:p>
            <a:pPr>
              <a:defRPr sz="2000"/>
            </a:pPr>
            <a:r>
              <a:t>3. 真のR&amp;Dとプロモーションを分ける2投入モデルへの拡張により、分権化が「プロモーション偏向（Promotion tilt）」を引き起こし、内生的に実質的品質の割合(α)を低下させることを証明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モデル設定1：空間競争 (Model Setup: Spatial Competition)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2つの地域（自治体 i=1, 2）、およびそれぞれに対応する下流企業 A, B</a:t>
            </a:r>
          </a:p>
          <a:p>
            <a:pPr>
              <a:defRPr sz="2000"/>
            </a:pPr>
            <a:r>
              <a:t>消費者は区間 [0,1]（ホテリング直線）上に一様分布</a:t>
            </a:r>
          </a:p>
          <a:p>
            <a:pPr>
              <a:defRPr sz="2000"/>
            </a:pPr>
            <a:r>
              <a:t>各企業は限界費用 c で生産し、消費者は輸送費用 t に直面する</a:t>
            </a:r>
          </a:p>
          <a:p>
            <a:pPr>
              <a:defRPr sz="2000"/>
            </a:pPr>
            <a:r>
              <a:t>消費者の効用:</a:t>
            </a:r>
          </a:p>
          <a:p>
            <a:pPr>
              <a:defRPr sz="2000"/>
            </a:pPr>
            <a:r>
              <a:t>U = V + q_bar + q_i - p_i - t*d(x)</a:t>
            </a:r>
          </a:p>
          <a:p>
            <a:pPr>
              <a:defRPr sz="2000"/>
            </a:pPr>
            <a:r>
              <a:t>ここで q_i は投資によって引き上げられる「知覚品質」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モデル設定2：品質投資とスピルオーバー (R&amp;D &amp; Spillovers)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自治体 i が R&amp;D投資 e_i を決定し、費用 K(e_i) を負担</a:t>
            </a:r>
          </a:p>
          <a:p>
            <a:pPr>
              <a:defRPr sz="2000"/>
            </a:pPr>
            <a:r>
              <a:t>知識スピルオーバー（パラメータ ρ ∈ [0,1)）:</a:t>
            </a:r>
          </a:p>
          <a:p>
            <a:pPr>
              <a:defRPr sz="2000"/>
            </a:pPr>
            <a:r>
              <a:t>企業Aの品質: q_A = g(e_1) + ρ*g(e_2)</a:t>
            </a:r>
          </a:p>
          <a:p>
            <a:pPr>
              <a:defRPr sz="2000"/>
            </a:pPr>
            <a:r>
              <a:t>企業Bの品質: q_B = g(e_2) + ρ*g(e_1)</a:t>
            </a:r>
          </a:p>
          <a:p>
            <a:pPr>
              <a:defRPr sz="2000"/>
            </a:pPr>
            <a:r>
              <a:t>自地域の投資だけでなく、他地域の投資の恩恵を部分的に受ける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社会的厚生基準 (Social Welfare Criterion)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本研究における中核的な厚生評価の前提:</a:t>
            </a:r>
          </a:p>
          <a:p>
            <a:pPr>
              <a:defRPr sz="2000"/>
            </a:pPr>
            <a:r>
              <a:t>知覚品質 q_f のうち、厚生に実質的に寄与するのは r_f = α*q_f のみとみなす</a:t>
            </a:r>
          </a:p>
          <a:p>
            <a:pPr>
              <a:defRPr sz="2000"/>
            </a:pPr>
            <a:r>
              <a:t>残りの部分 (1-α)*q_f は、「純粋に説得的な要素（Purely persuasive component）」であり、厚生評価から除外</a:t>
            </a:r>
          </a:p>
          <a:p>
            <a:pPr>
              <a:defRPr sz="2000"/>
            </a:pPr>
            <a:r>
              <a:t>最適化問題（社会計画者）は、この真の品質向上と、輸送・生産・投資費用のトレードオフを検討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ゲームのタイミング (Timing of the Game)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第0段階: 中央政府がマッチング補助率 s を設定</a:t>
            </a:r>
          </a:p>
          <a:p>
            <a:pPr>
              <a:defRPr sz="2000"/>
            </a:pPr>
            <a:r>
              <a:t>第1段階: 各自治体が R&amp;D投資 e_1, e_2 を同時に決定</a:t>
            </a:r>
          </a:p>
          <a:p>
            <a:pPr>
              <a:defRPr sz="2000"/>
            </a:pPr>
            <a:r>
              <a:t>第2段階: 下流企業 A, B が価格 p_A, p_B を同時に決定（ベルトラン競争）</a:t>
            </a:r>
          </a:p>
          <a:p>
            <a:pPr>
              <a:defRPr sz="2000"/>
            </a:pPr>
            <a:r>
              <a:t>第3段階: 消費者が購入先を選択し、市場がクリアされる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第2段階：価格競争の均衡 (Stage 2: Price Equilibrium)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品質差 Δq = q_A - q_B が 3t より小さい時、内部解が存在</a:t>
            </a:r>
          </a:p>
          <a:p>
            <a:pPr>
              <a:defRPr sz="2000"/>
            </a:pPr>
            <a:r>
              <a:t>均衡価格:</a:t>
            </a:r>
          </a:p>
          <a:p>
            <a:pPr>
              <a:defRPr sz="2000"/>
            </a:pPr>
            <a:r>
              <a:t>p_A* = c + t + Δq/3</a:t>
            </a:r>
          </a:p>
          <a:p>
            <a:pPr>
              <a:defRPr sz="2000"/>
            </a:pPr>
            <a:r>
              <a:t>p_B* = c + t - Δq/3</a:t>
            </a:r>
          </a:p>
          <a:p>
            <a:pPr>
              <a:defRPr sz="2000"/>
            </a:pPr>
            <a:r>
              <a:t>縮約形利潤 (Reduced-form profit):</a:t>
            </a:r>
          </a:p>
          <a:p>
            <a:pPr>
              <a:defRPr sz="2000"/>
            </a:pPr>
            <a:r>
              <a:t>π_A*(q_A, q_B) = (3t + Δq)^2 / (18t)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第1段階：分権的R&amp;D均衡 (Stage 1: Decentralized R&amp;D Equilibrium)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自治体の目的関数（マッチング率 s の下で）:</a:t>
            </a:r>
          </a:p>
          <a:p>
            <a:pPr>
              <a:defRPr sz="2000"/>
            </a:pPr>
            <a:r>
              <a:t>W_i = π_i*(Δq) - (1-s)K(e_i)</a:t>
            </a:r>
          </a:p>
          <a:p>
            <a:pPr>
              <a:defRPr sz="2000"/>
            </a:pPr>
            <a:r>
              <a:t>対称なナッシュ均衡 (e_1 = e_2 = e^N) での一階条件:</a:t>
            </a:r>
          </a:p>
          <a:p>
            <a:pPr>
              <a:defRPr sz="2000"/>
            </a:pPr>
            <a:r>
              <a:t>(1-s)K'(e^N) = (1-ρ)/3 * g'(e^N)</a:t>
            </a:r>
          </a:p>
          <a:p>
            <a:pPr>
              <a:defRPr sz="2000"/>
            </a:pPr>
            <a:r>
              <a:t>自治体は「自己の投資が自国利潤を増やす（Business stealing）」インセンティブに基づいて投資水準を決定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最適R&amp;D水準 (Social Optimum)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社会計画者は、実質的品質 (α) と全体のコストを最小化するように e^S を設定</a:t>
            </a:r>
          </a:p>
          <a:p>
            <a:pPr>
              <a:defRPr sz="2000"/>
            </a:pPr>
            <a:r>
              <a:t>対称な社会的最適での一階条件:</a:t>
            </a:r>
          </a:p>
          <a:p>
            <a:pPr>
              <a:defRPr sz="2000"/>
            </a:pPr>
            <a:r>
              <a:t>K'(e^S) = [α(1+ρ)/2] * g'(e^S)</a:t>
            </a:r>
          </a:p>
          <a:p>
            <a:pPr>
              <a:defRPr sz="2000"/>
            </a:pPr>
            <a:r>
              <a:t>（スピルオーバー ρ がプラスに働く）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分析結果1：過剰・過少についての閾値定理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分権的均衡(e^N) は、以下の条件に従って社会的最適(e^S)から乖離する:</a:t>
            </a:r>
          </a:p>
          <a:p>
            <a:pPr>
              <a:defRPr sz="2000"/>
            </a:pPr>
            <a:r>
              <a:t>過剰投資になる条件: α &lt; 2(1-ρ) / {3(1+ρ)}</a:t>
            </a:r>
          </a:p>
          <a:p>
            <a:pPr>
              <a:defRPr sz="2000"/>
            </a:pPr>
            <a:r>
              <a:t>過少投資になる条件: α &gt; 2(1-ρ) / {3(1+ρ)}</a:t>
            </a:r>
          </a:p>
          <a:p>
            <a:pPr>
              <a:defRPr sz="2000"/>
            </a:pPr>
            <a:r>
              <a:t>閾値となる限界水準を α_bar(ρ) = 2(1-ρ) / {3(1+ρ)} と定義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閾値の直感とメカニズム (Intuition)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過剰投資（α が小さい領域）:</a:t>
            </a:r>
          </a:p>
          <a:p>
            <a:pPr>
              <a:defRPr sz="2000"/>
            </a:pPr>
            <a:r>
              <a:t>投資が主に「説得的・プロモーション的」であり、厚生に寄与しないが、自治体は需要を奪うために過剰な宣伝競争に陥る</a:t>
            </a:r>
          </a:p>
          <a:p>
            <a:pPr>
              <a:defRPr sz="2000"/>
            </a:pPr>
            <a:r>
              <a:t>過少投資（α と ρ が大きい領域）:</a:t>
            </a:r>
          </a:p>
          <a:p>
            <a:pPr>
              <a:defRPr sz="2000"/>
            </a:pPr>
            <a:r>
              <a:t>投資が有意義な「実質的品質向上」をもたらし、他地域へのスピルオーバーも大きいが、自治体は他国への恩恵を無視するため過少となる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分析結果2：マッチング補助金による実装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中央政府は、単一の政策手段（補助率 s*）を用いて社会的最適を実装可能</a:t>
            </a:r>
          </a:p>
          <a:p>
            <a:pPr>
              <a:defRPr sz="2000"/>
            </a:pPr>
            <a:r>
              <a:t>s* = 1 - α_bar(ρ) / α</a:t>
            </a:r>
          </a:p>
          <a:p>
            <a:pPr>
              <a:defRPr sz="2000"/>
            </a:pPr>
            <a:r>
              <a:t>α &lt; α_bar の場合（過剰投資領域）:</a:t>
            </a:r>
          </a:p>
          <a:p>
            <a:pPr>
              <a:defRPr sz="2000"/>
            </a:pPr>
            <a:r>
              <a:t>s* は負の値となり、R&amp;D支出に対する「税金」または「規制（上限設定）」が必要</a:t>
            </a:r>
          </a:p>
          <a:p>
            <a:pPr>
              <a:defRPr sz="2000"/>
            </a:pPr>
            <a:r>
              <a:t>α &gt; α_bar の場合（過少投資領域）:</a:t>
            </a:r>
          </a:p>
          <a:p>
            <a:pPr>
              <a:defRPr sz="2000"/>
            </a:pPr>
            <a:r>
              <a:t>s* は正の値となり、適切な「補助金」が必要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拡張モデル：2投入プロセスとプロモーション偏向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投資を「真のR&amp;D（r_i）」と「プロモーション（m_i）」の2つに分解した拡張分析</a:t>
            </a:r>
          </a:p>
          <a:p>
            <a:pPr>
              <a:defRPr sz="2000"/>
            </a:pPr>
            <a:r>
              <a:t>限界費用を k_R, k_M とし、スピルオーバーを ρ_R, ρ_M と仮定</a:t>
            </a:r>
          </a:p>
          <a:p>
            <a:pPr>
              <a:defRPr sz="2000"/>
            </a:pPr>
            <a:r>
              <a:t>結果:</a:t>
            </a:r>
          </a:p>
          <a:p>
            <a:pPr>
              <a:defRPr sz="2000"/>
            </a:pPr>
            <a:r>
              <a:t>自治体はプロモーション(m_i)に社会最適(=0)よりも過剰に投資し（Promotion-policy trap）、真のR&amp;Dには過少投資する</a:t>
            </a:r>
          </a:p>
          <a:p>
            <a:pPr>
              <a:defRPr sz="2000"/>
            </a:pPr>
            <a:r>
              <a:t>結果として、投資全体における真の品質の比率（内生的な α_N）が低下してしまう（Promotion tilt）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政策的含意 (Policy Implications)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地方創生や農水産物の輸出促進において、自治体のプロモーション寄りの支出は「需要の奪い合い」になりやすく、社会的な無駄となる可能性がある</a:t>
            </a:r>
          </a:p>
          <a:p>
            <a:pPr>
              <a:defRPr sz="2000"/>
            </a:pPr>
            <a:r>
              <a:t>一律の補助金支給ではなく、政策手段の性質（品質改善 vs 純粋なブランディング）を見極めることが重要</a:t>
            </a:r>
          </a:p>
          <a:p>
            <a:pPr>
              <a:defRPr sz="2000"/>
            </a:pPr>
            <a:r>
              <a:t>実質的品質改善（品種改良や安全性保証システム）にターゲットを絞ったインセンティブ設計や、スピルオーバーの共有が不可欠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 (Conclusion)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地域間のR&amp;Dおよびブランディング競争において、「知覚品質の構成要素」を分解することで、過剰投資と過少投資の境界を解析的に明らかにした</a:t>
            </a:r>
          </a:p>
          <a:p>
            <a:pPr>
              <a:defRPr sz="2000"/>
            </a:pPr>
            <a:r>
              <a:t>品質投資が「真の改善」か「需要の奪い合い」かによって、補助すべきか課税（規制）すべきかが明確に逆転する</a:t>
            </a:r>
          </a:p>
          <a:p>
            <a:pPr>
              <a:defRPr sz="2000"/>
            </a:pPr>
            <a:r>
              <a:t>制度設計においては、プロモーション偏向を防ぐ仕組みが求められる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